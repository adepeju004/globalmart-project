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8312"/>
    <a:srgbClr val="BD5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1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98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70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6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05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4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91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14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7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35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5D49AC7-BB2E-46E3-8963-7B8FCA508050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FD95300-F412-47AE-98AF-5D254066044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1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3115" y="1971412"/>
            <a:ext cx="9833575" cy="2353699"/>
          </a:xfrm>
        </p:spPr>
        <p:txBody>
          <a:bodyPr>
            <a:normAutofit fontScale="90000"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6600" kern="100" dirty="0" err="1" smtClean="0">
                <a:solidFill>
                  <a:srgbClr val="002060"/>
                </a:solidFill>
                <a:effectLst/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GlobalMart</a:t>
            </a:r>
            <a:r>
              <a:rPr lang="en-US" sz="6600" kern="100" dirty="0" smtClean="0">
                <a:solidFill>
                  <a:srgbClr val="002060"/>
                </a:solidFill>
                <a:effectLst/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kern="100" dirty="0">
                <a:solidFill>
                  <a:srgbClr val="002060"/>
                </a:solidFill>
                <a:effectLst/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Supply </a:t>
            </a:r>
            <a:r>
              <a:rPr lang="en-US" sz="6600" kern="100" dirty="0" smtClean="0">
                <a:solidFill>
                  <a:srgbClr val="002060"/>
                </a:solidFill>
                <a:effectLst/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Chain </a:t>
            </a:r>
            <a:r>
              <a:rPr lang="en-US" sz="6600" kern="100" dirty="0">
                <a:solidFill>
                  <a:srgbClr val="002060"/>
                </a:solidFill>
                <a:effectLst/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Analytics </a:t>
            </a:r>
            <a:endParaRPr lang="en-GB" sz="6600" kern="100" dirty="0">
              <a:solidFill>
                <a:srgbClr val="002060"/>
              </a:solidFill>
              <a:effectLst/>
              <a:latin typeface="Bahnschrift" panose="020B0502040204020203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1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37563"/>
            <a:ext cx="7954441" cy="1099797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Business 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899" y="1952234"/>
            <a:ext cx="10514761" cy="1378795"/>
          </a:xfr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GB" sz="3200" dirty="0" err="1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Globalmart</a:t>
            </a:r>
            <a:r>
              <a:rPr lang="en-GB" sz="3200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ltd, a multinational retail &amp; distribution company known for its operations across African markets. </a:t>
            </a:r>
            <a:r>
              <a:rPr lang="en-GB" sz="3200" dirty="0" err="1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Globalmart</a:t>
            </a:r>
            <a:r>
              <a:rPr lang="en-GB" sz="3200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experienced several operational challenges affecting profitability and customer satisfaction.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487541" y="3545903"/>
            <a:ext cx="6871063" cy="22705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200" b="1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Four critical operational challenges were identified</a:t>
            </a:r>
            <a:r>
              <a:rPr lang="en-GB" sz="2200" b="1" dirty="0" smtClean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1800" dirty="0" smtClean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 Inefficient </a:t>
            </a:r>
            <a:r>
              <a:rPr lang="en-GB" sz="18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Delivery Performance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1800" dirty="0" smtClean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 Inventory </a:t>
            </a:r>
            <a:r>
              <a:rPr lang="en-GB" sz="18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Imbalance</a:t>
            </a:r>
            <a:endParaRPr lang="en-GB" sz="1800" dirty="0">
              <a:solidFill>
                <a:schemeClr val="tx1"/>
              </a:solidFill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1800" dirty="0" smtClean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 Stagnating </a:t>
            </a:r>
            <a:r>
              <a:rPr lang="en-GB" sz="18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Profit Margins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1800" dirty="0" smtClean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 Limited </a:t>
            </a:r>
            <a:r>
              <a:rPr lang="en-GB" sz="18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Data visibility for Decision-making</a:t>
            </a:r>
          </a:p>
          <a:p>
            <a:pPr marL="0" indent="0" algn="ctr">
              <a:buNone/>
            </a:pPr>
            <a:endParaRPr lang="en-GB" sz="32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algn="ctr">
              <a:buFont typeface="Wingdings" panose="05000000000000000000" pitchFamily="2" charset="2"/>
              <a:buChar char="Ø"/>
            </a:pPr>
            <a:endParaRPr lang="en-GB" sz="32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algn="ctr"/>
            <a:endParaRPr lang="en-GB" sz="32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algn="ctr"/>
            <a:endParaRPr lang="en-GB" sz="32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96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25495"/>
            <a:ext cx="10058400" cy="711865"/>
          </a:xfrm>
        </p:spPr>
        <p:txBody>
          <a:bodyPr>
            <a:normAutofit/>
          </a:bodyPr>
          <a:lstStyle/>
          <a:p>
            <a:r>
              <a:rPr lang="en-GB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8930" y="1993805"/>
            <a:ext cx="8202756" cy="496413"/>
          </a:xfrm>
        </p:spPr>
        <p:txBody>
          <a:bodyPr>
            <a:normAutofit/>
          </a:bodyPr>
          <a:lstStyle/>
          <a:p>
            <a:pPr algn="ctr"/>
            <a:r>
              <a:rPr lang="en-GB" sz="2400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Two </a:t>
            </a:r>
            <a:r>
              <a:rPr lang="en-GB" sz="2400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analytical phases were involved in the methodology.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4741" y="2749175"/>
            <a:ext cx="3565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1. Data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Cleaning (Power Query):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4741" y="3217135"/>
            <a:ext cx="275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Removed 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9254" y="3703616"/>
            <a:ext cx="2905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Fixed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2107" y="4185485"/>
            <a:ext cx="365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Fixed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Standardized data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9254" y="4667354"/>
            <a:ext cx="263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GB" dirty="0" smtClean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onverted </a:t>
            </a:r>
            <a:r>
              <a:rPr lang="en-GB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dates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254" y="5149224"/>
            <a:ext cx="345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Created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calculated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4887" y="2728481"/>
            <a:ext cx="4184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2. Interactive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Dashboard </a:t>
            </a: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Development: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04888" y="3158206"/>
            <a:ext cx="476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Two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dynamic dashboards were created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4888" y="3641028"/>
            <a:ext cx="476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Supply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chain operations </a:t>
            </a: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dashboard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04888" y="4107116"/>
            <a:ext cx="4286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Business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Performance &amp; Profitability </a:t>
            </a: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dashboard.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44741" y="2640650"/>
            <a:ext cx="4283491" cy="3076486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6055266" y="2647242"/>
            <a:ext cx="4473154" cy="3076486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28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48624"/>
            <a:ext cx="6285032" cy="663569"/>
          </a:xfrm>
        </p:spPr>
        <p:txBody>
          <a:bodyPr>
            <a:normAutofit/>
          </a:bodyPr>
          <a:lstStyle/>
          <a:p>
            <a:r>
              <a:rPr lang="en-GB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Data Overview &amp; Structure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285296" y="3164836"/>
            <a:ext cx="10058400" cy="8172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GB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474177" y="1990307"/>
            <a:ext cx="7307408" cy="49641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The </a:t>
            </a:r>
            <a:r>
              <a:rPr lang="en-GB" sz="2400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dataset used in this project include</a:t>
            </a:r>
            <a:r>
              <a:rPr lang="en-GB" sz="2400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:</a:t>
            </a:r>
            <a:endParaRPr lang="en-GB" sz="2400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3895" y="2952505"/>
            <a:ext cx="137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Order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5240" y="2952505"/>
            <a:ext cx="228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Order/Ship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3174" y="2952504"/>
            <a:ext cx="228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Customer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108" y="2952504"/>
            <a:ext cx="1521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Region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07319" y="2952504"/>
            <a:ext cx="1521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Country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3895" y="3559303"/>
            <a:ext cx="240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Product category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4708" y="3570843"/>
            <a:ext cx="209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Product name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75118" y="3570843"/>
            <a:ext cx="140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Supplier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27628" y="3580341"/>
            <a:ext cx="219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Total Sales/Cost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80078" y="3580341"/>
            <a:ext cx="219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Profit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7733" y="4215170"/>
            <a:ext cx="216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Shipping </a:t>
            </a:r>
            <a:r>
              <a:rPr lang="en-GB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Mock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2543" y="4227883"/>
            <a:ext cx="216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Warehouse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17353" y="4240596"/>
            <a:ext cx="216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Delivery Status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2163" y="4253309"/>
            <a:ext cx="216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Stock Level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49124" y="4886393"/>
            <a:ext cx="216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Damaged Goods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17793" y="2713626"/>
            <a:ext cx="10117123" cy="2915387"/>
          </a:xfrm>
          <a:prstGeom prst="roundRect">
            <a:avLst/>
          </a:prstGeom>
          <a:noFill/>
          <a:ln>
            <a:solidFill>
              <a:srgbClr val="002060"/>
            </a:solidFill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032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90569"/>
            <a:ext cx="6721259" cy="646791"/>
          </a:xfrm>
        </p:spPr>
        <p:txBody>
          <a:bodyPr>
            <a:normAutofit/>
          </a:bodyPr>
          <a:lstStyle/>
          <a:p>
            <a:r>
              <a:rPr lang="en-GB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Delivery Performance Insights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594585" y="5757643"/>
            <a:ext cx="10404909" cy="48723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GB" sz="22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1" y="2276509"/>
            <a:ext cx="7795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Certain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suppliers consistently experience higher late delivery rates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. </a:t>
            </a:r>
          </a:p>
          <a:p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  (</a:t>
            </a:r>
            <a:r>
              <a:rPr lang="en-US" dirty="0" err="1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Globaltrade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Ng &amp; </a:t>
            </a:r>
            <a:r>
              <a:rPr lang="en-US" dirty="0" err="1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Afroparts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Ltd)</a:t>
            </a:r>
            <a:endParaRPr lang="en-US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3255209"/>
            <a:ext cx="8306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Express shipping demonstrates the highest on-time delivery performance.</a:t>
            </a:r>
            <a:endParaRPr lang="en-US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956910"/>
            <a:ext cx="988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Standard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shipping contributes to most delayed deliveries due to larger shipment volumes.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58611"/>
            <a:ext cx="632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On-time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deliveries represent the majority of shipments.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67178" y="2136632"/>
            <a:ext cx="10188502" cy="30764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48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17451"/>
            <a:ext cx="6394089" cy="681271"/>
          </a:xfrm>
        </p:spPr>
        <p:txBody>
          <a:bodyPr>
            <a:noAutofit/>
          </a:bodyPr>
          <a:lstStyle/>
          <a:p>
            <a:r>
              <a:rPr lang="en-GB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Profitability Analysis </a:t>
            </a:r>
            <a:r>
              <a:rPr lang="en-GB" sz="3800" dirty="0" smtClean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Insights.</a:t>
            </a:r>
            <a:endParaRPr lang="en-GB" sz="3800" dirty="0">
              <a:solidFill>
                <a:srgbClr val="002060"/>
              </a:solidFill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45407" y="4856655"/>
            <a:ext cx="11094720" cy="48723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GB" sz="22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1796" y="2191179"/>
            <a:ext cx="907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A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small number of product categories generate a significant share of total profit.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910" y="3080978"/>
            <a:ext cx="1024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High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revenue does not always correspond to high profitability due to varying operating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910" y="3970777"/>
            <a:ext cx="1000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  Certain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suppliers contribute to lower profit margins through increased logistics expenses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.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7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572" y="933109"/>
            <a:ext cx="6782189" cy="727208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Inventory Optimization Insights</a:t>
            </a:r>
            <a:endParaRPr lang="en-GB" sz="3800" dirty="0">
              <a:solidFill>
                <a:srgbClr val="002060"/>
              </a:solidFill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9572" y="2168271"/>
            <a:ext cx="754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Some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categories experience overstocking, increasing storage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72" y="2961304"/>
            <a:ext cx="797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Health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&amp; Beauty product category experience the highest damage rates.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72" y="3838590"/>
            <a:ext cx="647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Damaged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goods reduce available inventory &amp; profitability.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711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73791"/>
            <a:ext cx="6234698" cy="663569"/>
          </a:xfrm>
        </p:spPr>
        <p:txBody>
          <a:bodyPr>
            <a:normAutofit/>
          </a:bodyPr>
          <a:lstStyle/>
          <a:p>
            <a:r>
              <a:rPr lang="en-GB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Business Trends &amp;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9468" y="2095377"/>
            <a:ext cx="503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Hand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Sanitizer generated the highest 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profit.</a:t>
            </a:r>
            <a:endParaRPr lang="en-US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3024" y="2667085"/>
            <a:ext cx="10162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Product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categories with the highest profit margins are the most financially efficient.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Electronics (28.79%) are the most financially efficient.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468" y="3364790"/>
            <a:ext cx="461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East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Africa generated the most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802" y="3860997"/>
            <a:ext cx="1014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Quickship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Co is the supplier that consistently generate high revenue &amp; profit which provided the greatest business value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.</a:t>
            </a:r>
            <a:endParaRPr lang="en-US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9802" y="4634204"/>
            <a:ext cx="1014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Over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time, revenue &amp; profit margins fluctuate based on supplier performance and shipping costs.</a:t>
            </a:r>
            <a:endParaRPr lang="en-GB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37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407" y="979045"/>
            <a:ext cx="6203349" cy="681271"/>
          </a:xfrm>
        </p:spPr>
        <p:txBody>
          <a:bodyPr>
            <a:noAutofit/>
          </a:bodyPr>
          <a:lstStyle/>
          <a:p>
            <a:r>
              <a:rPr lang="en-GB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Strategic </a:t>
            </a:r>
            <a:r>
              <a:rPr lang="en-GB" sz="3800" dirty="0" smtClean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Recommendations</a:t>
            </a:r>
            <a:endParaRPr lang="en-GB" sz="3800" dirty="0">
              <a:solidFill>
                <a:srgbClr val="002060"/>
              </a:solidFill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97280" y="2780985"/>
            <a:ext cx="10693667" cy="74827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GB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97280" y="4221585"/>
            <a:ext cx="4308909" cy="48723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GB" sz="22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18922" y="4221585"/>
            <a:ext cx="3972025" cy="48723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GB" sz="22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98898" y="5401139"/>
            <a:ext cx="10404909" cy="76815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GB" sz="22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071614" y="3580495"/>
            <a:ext cx="6570846" cy="49039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097280" y="4811362"/>
            <a:ext cx="7741920" cy="48723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endParaRPr lang="en-GB" sz="22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5407" y="1890908"/>
            <a:ext cx="95260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Supply </a:t>
            </a:r>
            <a:r>
              <a:rPr lang="en-US" b="1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Chain</a:t>
            </a:r>
            <a:r>
              <a:rPr lang="en-US" b="1" dirty="0" smtClean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:</a:t>
            </a:r>
          </a:p>
          <a:p>
            <a:pPr algn="just"/>
            <a:endParaRPr lang="en-US" dirty="0" smtClean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Supplier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Performance should be reviewed quarterly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An agreement should be reached with underperforming suppliers on how to do better</a:t>
            </a: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.</a:t>
            </a:r>
            <a:endParaRPr lang="en-US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1893" y="3434581"/>
            <a:ext cx="6136863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Inventory </a:t>
            </a:r>
            <a:r>
              <a:rPr lang="en-US" b="1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&amp; </a:t>
            </a:r>
            <a:r>
              <a:rPr lang="en-US" b="1" dirty="0" smtClean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Delivery:</a:t>
            </a:r>
          </a:p>
          <a:p>
            <a:pPr algn="just"/>
            <a:endParaRPr lang="en-US" dirty="0"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High-performing shipping methods should be utilized.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Warehouse dispatch processes should be improved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Excess inventory should be reduced.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Reduce damaged goods through improved handling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More focus </a:t>
            </a:r>
            <a:r>
              <a:rPr lang="en-US" dirty="0"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on high-margin products</a:t>
            </a:r>
          </a:p>
        </p:txBody>
      </p:sp>
    </p:spTree>
    <p:extLst>
      <p:ext uri="{BB962C8B-B14F-4D97-AF65-F5344CB8AC3E}">
        <p14:creationId xmlns:p14="http://schemas.microsoft.com/office/powerpoint/2010/main" val="236567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94254"/>
            <a:ext cx="3306940" cy="643106"/>
          </a:xfrm>
        </p:spPr>
        <p:txBody>
          <a:bodyPr>
            <a:normAutofit/>
          </a:bodyPr>
          <a:lstStyle/>
          <a:p>
            <a:r>
              <a:rPr lang="en-GB" sz="3800" dirty="0">
                <a:solidFill>
                  <a:srgbClr val="002060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007" y="2080150"/>
            <a:ext cx="10649250" cy="3212155"/>
          </a:xfrm>
          <a:ln>
            <a:solidFill>
              <a:srgbClr val="002060"/>
            </a:solidFill>
          </a:ln>
          <a:effectLst>
            <a:glow rad="63500">
              <a:srgbClr val="002060">
                <a:alpha val="40000"/>
              </a:srgbClr>
            </a:glow>
          </a:effectLst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This project shows the effectiveness of transforming raw operational data into actionable business intelligence through </a:t>
            </a:r>
            <a:r>
              <a:rPr lang="en-US" sz="2400" dirty="0" err="1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PowerBi</a:t>
            </a:r>
            <a:r>
              <a:rPr lang="en-US" sz="24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. </a:t>
            </a:r>
            <a:endParaRPr lang="en-US" sz="2400" dirty="0" smtClean="0">
              <a:solidFill>
                <a:schemeClr val="tx1"/>
              </a:solidFill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The </a:t>
            </a:r>
            <a:r>
              <a:rPr lang="en-US" sz="24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use of </a:t>
            </a:r>
            <a:r>
              <a:rPr lang="en-US" sz="2400" dirty="0" err="1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PowerBi</a:t>
            </a:r>
            <a:r>
              <a:rPr lang="en-US" sz="2400" dirty="0">
                <a:solidFill>
                  <a:schemeClr val="tx1"/>
                </a:solidFill>
                <a:latin typeface="Bahnschrift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 for data analysis and visualizations shows how simple tools can help in delivering meaningful, colorful &amp; executive reporting when used effectively.</a:t>
            </a:r>
            <a:endParaRPr lang="en-GB" sz="2400" dirty="0">
              <a:solidFill>
                <a:schemeClr val="tx1"/>
              </a:solidFill>
              <a:latin typeface="Bahnschrift" panose="020B0502040204020203" pitchFamily="34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9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301</TotalTime>
  <Words>466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Bahnschrift</vt:lpstr>
      <vt:lpstr>Calibri</vt:lpstr>
      <vt:lpstr>Calibri Light</vt:lpstr>
      <vt:lpstr>Cascadia Code</vt:lpstr>
      <vt:lpstr>Cascadia Mono</vt:lpstr>
      <vt:lpstr>Wingdings</vt:lpstr>
      <vt:lpstr>Retrospect</vt:lpstr>
      <vt:lpstr>GlobalMart Supply Chain Analytics </vt:lpstr>
      <vt:lpstr>Business Problem Overview</vt:lpstr>
      <vt:lpstr>Methodology</vt:lpstr>
      <vt:lpstr>Data Overview &amp; Structure</vt:lpstr>
      <vt:lpstr>Delivery Performance Insights</vt:lpstr>
      <vt:lpstr>Profitability Analysis Insights.</vt:lpstr>
      <vt:lpstr>Inventory Optimization Insights</vt:lpstr>
      <vt:lpstr>Business Trends &amp; Patterns</vt:lpstr>
      <vt:lpstr>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Growing Your Name &amp; Wealth</dc:title>
  <dc:creator>Jamiu</dc:creator>
  <cp:lastModifiedBy>Jamiu</cp:lastModifiedBy>
  <cp:revision>49</cp:revision>
  <dcterms:created xsi:type="dcterms:W3CDTF">2026-07-20T13:44:42Z</dcterms:created>
  <dcterms:modified xsi:type="dcterms:W3CDTF">2026-07-21T21:07:57Z</dcterms:modified>
</cp:coreProperties>
</file>